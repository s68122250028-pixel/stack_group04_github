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Nombueang" charset="1" panose="00000000000000000000"/>
      <p:regular r:id="rId25"/>
    </p:embeddedFont>
    <p:embeddedFont>
      <p:font typeface="TT Supermolot Neue Bold" charset="1" panose="02000803030000020004"/>
      <p:regular r:id="rId26"/>
    </p:embeddedFont>
    <p:embeddedFont>
      <p:font typeface="Poppins" charset="1" panose="00000500000000000000"/>
      <p:regular r:id="rId27"/>
    </p:embeddedFont>
    <p:embeddedFont>
      <p:font typeface="Lato" charset="1" panose="020F0502020204030203"/>
      <p:regular r:id="rId28"/>
    </p:embeddedFont>
    <p:embeddedFont>
      <p:font typeface="Prompt" charset="1" panose="00000500000000000000"/>
      <p:regular r:id="rId29"/>
    </p:embeddedFont>
    <p:embeddedFont>
      <p:font typeface="Prompt Bold" charset="1" panose="00000800000000000000"/>
      <p:regular r:id="rId30"/>
    </p:embeddedFont>
    <p:embeddedFont>
      <p:font typeface="TT Supermolot Neue" charset="1" panose="02000503020000020004"/>
      <p:regular r:id="rId31"/>
    </p:embeddedFont>
    <p:embeddedFont>
      <p:font typeface="Poppins Bold" charset="1" panose="00000800000000000000"/>
      <p:regular r:id="rId32"/>
    </p:embeddedFont>
    <p:embeddedFont>
      <p:font typeface="Pridi Bold" charset="1" panose="000008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4561" y="2529736"/>
            <a:ext cx="8542540" cy="7980748"/>
          </a:xfrm>
          <a:custGeom>
            <a:avLst/>
            <a:gdLst/>
            <a:ahLst/>
            <a:cxnLst/>
            <a:rect r="r" b="b" t="t" l="l"/>
            <a:pathLst>
              <a:path h="7980748" w="8542540">
                <a:moveTo>
                  <a:pt x="0" y="0"/>
                </a:moveTo>
                <a:lnTo>
                  <a:pt x="8542540" y="0"/>
                </a:lnTo>
                <a:lnTo>
                  <a:pt x="8542540" y="7980748"/>
                </a:lnTo>
                <a:lnTo>
                  <a:pt x="0" y="7980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0923" y="1028700"/>
            <a:ext cx="15826154" cy="8229600"/>
          </a:xfrm>
          <a:custGeom>
            <a:avLst/>
            <a:gdLst/>
            <a:ahLst/>
            <a:cxnLst/>
            <a:rect r="r" b="b" t="t" l="l"/>
            <a:pathLst>
              <a:path h="8229600" w="15826154">
                <a:moveTo>
                  <a:pt x="0" y="0"/>
                </a:moveTo>
                <a:lnTo>
                  <a:pt x="15826154" y="0"/>
                </a:lnTo>
                <a:lnTo>
                  <a:pt x="158261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70360">
            <a:off x="2325976" y="3619525"/>
            <a:ext cx="1237367" cy="643431"/>
          </a:xfrm>
          <a:custGeom>
            <a:avLst/>
            <a:gdLst/>
            <a:ahLst/>
            <a:cxnLst/>
            <a:rect r="r" b="b" t="t" l="l"/>
            <a:pathLst>
              <a:path h="643431" w="1237367">
                <a:moveTo>
                  <a:pt x="0" y="0"/>
                </a:moveTo>
                <a:lnTo>
                  <a:pt x="1237366" y="0"/>
                </a:lnTo>
                <a:lnTo>
                  <a:pt x="1237366" y="643431"/>
                </a:lnTo>
                <a:lnTo>
                  <a:pt x="0" y="643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89007" y="6373085"/>
            <a:ext cx="7814786" cy="998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4"/>
              </a:lnSpc>
              <a:spcBef>
                <a:spcPct val="0"/>
              </a:spcBef>
            </a:pPr>
            <a:r>
              <a:rPr lang="en-US" sz="4600">
                <a:solidFill>
                  <a:srgbClr val="FFFFFF"/>
                </a:solidFill>
                <a:latin typeface="Nombueang"/>
                <a:ea typeface="Nombueang"/>
                <a:cs typeface="Nombueang"/>
                <a:sym typeface="Nombueang"/>
              </a:rPr>
              <a:t>Group 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52361" y="3526317"/>
            <a:ext cx="13488077" cy="288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7"/>
              </a:lnSpc>
            </a:pPr>
            <a:r>
              <a:rPr lang="en-US" b="true" sz="8269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EXPRESSION PROCESSOR : </a:t>
            </a:r>
          </a:p>
          <a:p>
            <a:pPr algn="ctr">
              <a:lnSpc>
                <a:spcPts val="11577"/>
              </a:lnSpc>
            </a:pPr>
            <a:r>
              <a:rPr lang="en-US" b="true" sz="8269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INFIX และ POSTFIX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770360">
            <a:off x="13026228" y="5819291"/>
            <a:ext cx="1237367" cy="643431"/>
          </a:xfrm>
          <a:custGeom>
            <a:avLst/>
            <a:gdLst/>
            <a:ahLst/>
            <a:cxnLst/>
            <a:rect r="r" b="b" t="t" l="l"/>
            <a:pathLst>
              <a:path h="643431" w="1237367">
                <a:moveTo>
                  <a:pt x="0" y="0"/>
                </a:moveTo>
                <a:lnTo>
                  <a:pt x="1237367" y="0"/>
                </a:lnTo>
                <a:lnTo>
                  <a:pt x="1237367" y="643430"/>
                </a:lnTo>
                <a:lnTo>
                  <a:pt x="0" y="643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00499" y="3288550"/>
            <a:ext cx="10443348" cy="420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b="true" sz="4752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นาย กษิดิศ อุ่นอำไพ         68122250028</a:t>
            </a:r>
          </a:p>
          <a:p>
            <a:pPr algn="l">
              <a:lnSpc>
                <a:spcPts val="6654"/>
              </a:lnSpc>
            </a:pPr>
            <a:r>
              <a:rPr lang="en-US" sz="4752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นาย ชลสิทธิ์ จิตรณรงค์   68122250092</a:t>
            </a:r>
          </a:p>
          <a:p>
            <a:pPr algn="l">
              <a:lnSpc>
                <a:spcPts val="6654"/>
              </a:lnSpc>
            </a:pPr>
            <a:r>
              <a:rPr lang="en-US" sz="4752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นางสาว น้ำผึ้ง เอียดวงศ์  68122250031</a:t>
            </a:r>
          </a:p>
          <a:p>
            <a:pPr algn="l">
              <a:lnSpc>
                <a:spcPts val="6654"/>
              </a:lnSpc>
            </a:pPr>
            <a:r>
              <a:rPr lang="en-US" sz="4752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นาย ณัฐชนันท์ จินดานิล   68122250102</a:t>
            </a:r>
          </a:p>
          <a:p>
            <a:pPr algn="l">
              <a:lnSpc>
                <a:spcPts val="6654"/>
              </a:lnSpc>
            </a:pPr>
            <a:r>
              <a:rPr lang="en-US" sz="4752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นาย พฤทธชาต ดํานิล       68122250104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698414" y="43957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57545" y="1750142"/>
            <a:ext cx="5372910" cy="143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36"/>
              </a:lnSpc>
            </a:pPr>
            <a:r>
              <a:rPr lang="en-US" b="true" sz="8312" spc="153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สมาชิก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1287028" y="19215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57165" y="0"/>
            <a:ext cx="9730835" cy="10287000"/>
            <a:chOff x="0" y="0"/>
            <a:chExt cx="9730595" cy="102867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3" y="-127"/>
              <a:ext cx="9730502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9730502">
                  <a:moveTo>
                    <a:pt x="9730502" y="10251440"/>
                  </a:moveTo>
                  <a:cubicBezTo>
                    <a:pt x="9730502" y="10284587"/>
                    <a:pt x="9718436" y="10286873"/>
                    <a:pt x="9686979" y="10286873"/>
                  </a:cubicBezTo>
                  <a:cubicBezTo>
                    <a:pt x="6458386" y="10286238"/>
                    <a:pt x="3229937" y="10286238"/>
                    <a:pt x="1343" y="10286238"/>
                  </a:cubicBezTo>
                  <a:cubicBezTo>
                    <a:pt x="-2887" y="10272395"/>
                    <a:pt x="3929" y="10259822"/>
                    <a:pt x="7233" y="10246995"/>
                  </a:cubicBezTo>
                  <a:cubicBezTo>
                    <a:pt x="149149" y="9685401"/>
                    <a:pt x="291209" y="9123934"/>
                    <a:pt x="433556" y="8562467"/>
                  </a:cubicBezTo>
                  <a:cubicBezTo>
                    <a:pt x="636519" y="7761986"/>
                    <a:pt x="839913" y="6961632"/>
                    <a:pt x="1042732" y="6161151"/>
                  </a:cubicBezTo>
                  <a:cubicBezTo>
                    <a:pt x="1293240" y="5172583"/>
                    <a:pt x="1543174" y="4184015"/>
                    <a:pt x="1793538" y="3195574"/>
                  </a:cubicBezTo>
                  <a:cubicBezTo>
                    <a:pt x="2047924" y="2191385"/>
                    <a:pt x="2302454" y="1187323"/>
                    <a:pt x="2557558" y="183261"/>
                  </a:cubicBezTo>
                  <a:cubicBezTo>
                    <a:pt x="2573071" y="122174"/>
                    <a:pt x="2582983" y="59690"/>
                    <a:pt x="2608120" y="635"/>
                  </a:cubicBezTo>
                  <a:cubicBezTo>
                    <a:pt x="4967836" y="635"/>
                    <a:pt x="7327551" y="635"/>
                    <a:pt x="9687266" y="0"/>
                  </a:cubicBezTo>
                  <a:cubicBezTo>
                    <a:pt x="9719299" y="0"/>
                    <a:pt x="9730215" y="3429"/>
                    <a:pt x="9730215" y="35814"/>
                  </a:cubicBezTo>
                  <a:cubicBezTo>
                    <a:pt x="9729353" y="3441065"/>
                    <a:pt x="9729353" y="6846316"/>
                    <a:pt x="9730502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-29487" t="0" r="-2948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50410" y="1728009"/>
            <a:ext cx="7117728" cy="150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98"/>
              </a:lnSpc>
            </a:pPr>
            <a:r>
              <a:rPr lang="en-US" sz="8784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CASE STORY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หน้า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0410" y="3352433"/>
            <a:ext cx="9057322" cy="254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1"/>
              </a:lnSpc>
            </a:pPr>
            <a:r>
              <a:rPr lang="en-US" sz="362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ระบบรับนิพจน์ทางคณิตศาสตร์ ตรวจสอบความถูกต้อง แปลง Infix เป็น Postfix และคำนวณผลลัพธ์ พร้อมเปรียบเทียบกับวิธีประเมิน Infix โดยตรงด้วย Operand Stack และ Operator Stack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1852" y="2537196"/>
            <a:ext cx="13144296" cy="102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6"/>
              </a:lnSpc>
            </a:pPr>
            <a:r>
              <a:rPr lang="en-US" sz="7274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INPUT/OUTPUT/CONSTRAINTS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1656" y="3963942"/>
            <a:ext cx="16444688" cy="215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7"/>
              </a:lnSpc>
              <a:spcBef>
                <a:spcPct val="0"/>
              </a:spcBef>
            </a:pPr>
            <a:r>
              <a:rPr lang="en-US" sz="4093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-</a:t>
            </a:r>
            <a:r>
              <a:rPr lang="en-US" b="true" sz="4093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Input </a:t>
            </a:r>
            <a:r>
              <a:rPr lang="en-US" sz="4093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: Infix Expression</a:t>
            </a:r>
          </a:p>
          <a:p>
            <a:pPr algn="just">
              <a:lnSpc>
                <a:spcPts val="4257"/>
              </a:lnSpc>
              <a:spcBef>
                <a:spcPct val="0"/>
              </a:spcBef>
            </a:pPr>
            <a:r>
              <a:rPr lang="en-US" sz="4093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-</a:t>
            </a:r>
            <a:r>
              <a:rPr lang="en-US" b="true" sz="4093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Output </a:t>
            </a:r>
            <a:r>
              <a:rPr lang="en-US" sz="4093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: Postfix (สำหรับ A), Result, Error ถ้ามี</a:t>
            </a:r>
          </a:p>
          <a:p>
            <a:pPr algn="just">
              <a:lnSpc>
                <a:spcPts val="4257"/>
              </a:lnSpc>
              <a:spcBef>
                <a:spcPct val="0"/>
              </a:spcBef>
            </a:pPr>
            <a:r>
              <a:rPr lang="en-US" sz="4093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-</a:t>
            </a:r>
            <a:r>
              <a:rPr lang="en-US" b="true" sz="4093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Constraint </a:t>
            </a:r>
            <a:r>
              <a:rPr lang="en-US" sz="4093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: Operator เป็น binary operator; `*`,`/` priority 2; `+`,`-` priority 1; ทำจากซ้ายไปขวาเมื่อ priority เท่ากัน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9401" y="1633226"/>
            <a:ext cx="11389197" cy="351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7"/>
              </a:lnSpc>
              <a:spcBef>
                <a:spcPct val="0"/>
              </a:spcBef>
            </a:pPr>
            <a:r>
              <a:rPr lang="en-US" b="true" sz="4468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Algori</a:t>
            </a:r>
            <a:r>
              <a:rPr lang="en-US" b="true" sz="4468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thm A</a:t>
            </a:r>
          </a:p>
          <a:p>
            <a:pPr algn="l">
              <a:lnSpc>
                <a:spcPts val="4647"/>
              </a:lnSpc>
              <a:spcBef>
                <a:spcPct val="0"/>
              </a:spcBef>
            </a:pPr>
            <a:r>
              <a:rPr lang="en-US" sz="4468">
                <a:solidFill>
                  <a:srgbClr val="FF3131"/>
                </a:solidFill>
                <a:latin typeface="Prompt"/>
                <a:ea typeface="Prompt"/>
                <a:cs typeface="Prompt"/>
                <a:sym typeface="Prompt"/>
              </a:rPr>
              <a:t>แนวคิด</a:t>
            </a:r>
          </a:p>
          <a:p>
            <a:pPr algn="l">
              <a:lnSpc>
                <a:spcPts val="4647"/>
              </a:lnSpc>
              <a:spcBef>
                <a:spcPct val="0"/>
              </a:spcBef>
            </a:pPr>
            <a:r>
              <a:rPr lang="en-US" sz="4468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1. Tokenize และ Validate</a:t>
            </a:r>
          </a:p>
          <a:p>
            <a:pPr algn="l">
              <a:lnSpc>
                <a:spcPts val="4647"/>
              </a:lnSpc>
              <a:spcBef>
                <a:spcPct val="0"/>
              </a:spcBef>
            </a:pPr>
            <a:r>
              <a:rPr lang="en-US" sz="4468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2. Infix -&gt; Postfix ด้วย Operator Stack</a:t>
            </a:r>
          </a:p>
          <a:p>
            <a:pPr algn="l">
              <a:lnSpc>
                <a:spcPts val="4647"/>
              </a:lnSpc>
              <a:spcBef>
                <a:spcPct val="0"/>
              </a:spcBef>
            </a:pPr>
            <a:r>
              <a:rPr lang="en-US" sz="4468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3. Evaluate Postfix ด้วย Operand Stack</a:t>
            </a:r>
          </a:p>
          <a:p>
            <a:pPr algn="l">
              <a:lnSpc>
                <a:spcPts val="464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449401" y="5307262"/>
            <a:ext cx="10794411" cy="351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  <a:spcBef>
                <a:spcPct val="0"/>
              </a:spcBef>
            </a:pPr>
            <a:r>
              <a:rPr lang="en-US" b="true" sz="4458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Algori</a:t>
            </a:r>
            <a:r>
              <a:rPr lang="en-US" b="true" sz="4458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thm B</a:t>
            </a:r>
          </a:p>
          <a:p>
            <a:pPr algn="l">
              <a:lnSpc>
                <a:spcPts val="4636"/>
              </a:lnSpc>
              <a:spcBef>
                <a:spcPct val="0"/>
              </a:spcBef>
            </a:pPr>
            <a:r>
              <a:rPr lang="en-US" sz="4458">
                <a:solidFill>
                  <a:srgbClr val="FF3131"/>
                </a:solidFill>
                <a:latin typeface="Prompt"/>
                <a:ea typeface="Prompt"/>
                <a:cs typeface="Prompt"/>
                <a:sym typeface="Prompt"/>
              </a:rPr>
              <a:t>แนวคิด</a:t>
            </a:r>
          </a:p>
          <a:p>
            <a:pPr algn="l">
              <a:lnSpc>
                <a:spcPts val="4636"/>
              </a:lnSpc>
              <a:spcBef>
                <a:spcPct val="0"/>
              </a:spcBef>
            </a:pPr>
            <a:r>
              <a:rPr lang="en-US" sz="4458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ใช้ Operand Stack และ Operator Stack ประเมิน Infix โดยตรง โดยเปรียบเทียบ Priority และคำนวณเมื่อถึงจุดที่ควรทำ</a:t>
            </a:r>
          </a:p>
          <a:p>
            <a:pPr algn="l">
              <a:lnSpc>
                <a:spcPts val="463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1853" y="485377"/>
            <a:ext cx="5094839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Pseudocode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18052" y="485377"/>
            <a:ext cx="4862959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Alg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orithm 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91853" y="1480183"/>
            <a:ext cx="11000137" cy="4055135"/>
          </a:xfrm>
          <a:custGeom>
            <a:avLst/>
            <a:gdLst/>
            <a:ahLst/>
            <a:cxnLst/>
            <a:rect r="r" b="b" t="t" l="l"/>
            <a:pathLst>
              <a:path h="4055135" w="11000137">
                <a:moveTo>
                  <a:pt x="0" y="0"/>
                </a:moveTo>
                <a:lnTo>
                  <a:pt x="11000137" y="0"/>
                </a:lnTo>
                <a:lnTo>
                  <a:pt x="11000137" y="4055135"/>
                </a:lnTo>
                <a:lnTo>
                  <a:pt x="0" y="4055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33832" y="4990039"/>
            <a:ext cx="4862959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Alg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orithm B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549644" y="5984845"/>
            <a:ext cx="11147147" cy="3705834"/>
          </a:xfrm>
          <a:custGeom>
            <a:avLst/>
            <a:gdLst/>
            <a:ahLst/>
            <a:cxnLst/>
            <a:rect r="r" b="b" t="t" l="l"/>
            <a:pathLst>
              <a:path h="3705834" w="11147147">
                <a:moveTo>
                  <a:pt x="0" y="0"/>
                </a:moveTo>
                <a:lnTo>
                  <a:pt x="11147147" y="0"/>
                </a:lnTo>
                <a:lnTo>
                  <a:pt x="11147147" y="3705834"/>
                </a:lnTo>
                <a:lnTo>
                  <a:pt x="0" y="370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1202" y="3120097"/>
            <a:ext cx="6224607" cy="6722576"/>
          </a:xfrm>
          <a:custGeom>
            <a:avLst/>
            <a:gdLst/>
            <a:ahLst/>
            <a:cxnLst/>
            <a:rect r="r" b="b" t="t" l="l"/>
            <a:pathLst>
              <a:path h="6722576" w="6224607">
                <a:moveTo>
                  <a:pt x="0" y="0"/>
                </a:moveTo>
                <a:lnTo>
                  <a:pt x="6224608" y="0"/>
                </a:lnTo>
                <a:lnTo>
                  <a:pt x="6224608" y="6722576"/>
                </a:lnTo>
                <a:lnTo>
                  <a:pt x="0" y="6722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41633" y="3120097"/>
            <a:ext cx="6898026" cy="5789415"/>
          </a:xfrm>
          <a:custGeom>
            <a:avLst/>
            <a:gdLst/>
            <a:ahLst/>
            <a:cxnLst/>
            <a:rect r="r" b="b" t="t" l="l"/>
            <a:pathLst>
              <a:path h="5789415" w="6898026">
                <a:moveTo>
                  <a:pt x="0" y="0"/>
                </a:moveTo>
                <a:lnTo>
                  <a:pt x="6898026" y="0"/>
                </a:lnTo>
                <a:lnTo>
                  <a:pt x="6898026" y="5789415"/>
                </a:lnTo>
                <a:lnTo>
                  <a:pt x="0" y="578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41633" y="-34807"/>
            <a:ext cx="2164891" cy="2392145"/>
          </a:xfrm>
          <a:custGeom>
            <a:avLst/>
            <a:gdLst/>
            <a:ahLst/>
            <a:cxnLst/>
            <a:rect r="r" b="b" t="t" l="l"/>
            <a:pathLst>
              <a:path h="2392145" w="2164891">
                <a:moveTo>
                  <a:pt x="0" y="0"/>
                </a:moveTo>
                <a:lnTo>
                  <a:pt x="2164891" y="0"/>
                </a:lnTo>
                <a:lnTo>
                  <a:pt x="2164891" y="2392146"/>
                </a:lnTo>
                <a:lnTo>
                  <a:pt x="0" y="23921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หน้า 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720" y="1823939"/>
            <a:ext cx="362143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3131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Infix</a:t>
            </a:r>
            <a:r>
              <a:rPr lang="en-US" b="true" sz="300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: 3 + 4 * 2 / (1 - 5)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37655"/>
            <a:ext cx="448388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E500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Postfix</a:t>
            </a:r>
            <a:r>
              <a:rPr lang="en-US" b="true" sz="300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: 3 4 2 * 1 5 - / +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69722" y="2281139"/>
            <a:ext cx="2910935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result:1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3727" y="487286"/>
            <a:ext cx="6211633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3131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St</a:t>
            </a:r>
            <a:r>
              <a:rPr lang="en-US" b="true" sz="7238">
                <a:solidFill>
                  <a:srgbClr val="FF3131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ep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-by-</a:t>
            </a:r>
            <a:r>
              <a:rPr lang="en-US" b="true" sz="7238">
                <a:solidFill>
                  <a:srgbClr val="FFE500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step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94406" y="3088440"/>
            <a:ext cx="4575393" cy="5055683"/>
          </a:xfrm>
          <a:custGeom>
            <a:avLst/>
            <a:gdLst/>
            <a:ahLst/>
            <a:cxnLst/>
            <a:rect r="r" b="b" t="t" l="l"/>
            <a:pathLst>
              <a:path h="5055683" w="4575393">
                <a:moveTo>
                  <a:pt x="0" y="0"/>
                </a:moveTo>
                <a:lnTo>
                  <a:pt x="4575394" y="0"/>
                </a:lnTo>
                <a:lnTo>
                  <a:pt x="4575394" y="5055684"/>
                </a:lnTo>
                <a:lnTo>
                  <a:pt x="0" y="5055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หน้า 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6407" y="2120700"/>
            <a:ext cx="4870124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ก่อนเริ่ม Algorithm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-Input มี Token ตามรูปแบบที่ระบบรองรับ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-Operand เป็นจำนวนเต็มบวก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-Operator อยู่ใน + - * /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-วงเล็บต้องสมดุล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-นิพจน์ต้องมีลำดับ Operand และ Operator ถูกต้อง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4253" y="6495598"/>
            <a:ext cx="6470154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ระหว่างการแปลง Infix เป็น Postfix มีคุณสมบัติที่ยังคงเป็นจริงดังนี้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-Operand ที่อ่านมาแล้วและไม่ต้องรอ Operator จะถูกเก็บใน Output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-Operator ที่ยังไม่ควรถูกนำออกจะอยู่ใน Operator Stack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-Operator Priority สูงกว่าจะถูกประมวลผลก่อน Operator Priority ต่ำกว่า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-Operator ที่อยู่ในวงเล็บจะไม่ถูกนำออกไปนอกวงเล็บ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87092" y="1904827"/>
            <a:ext cx="4963579" cy="94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เมื่อพบ Operand ระบบนำ Operand ไป Output หรือ Operand Stack โดยตรง เนื่องจาก Operand ไม่จำเป็นต้องเปรียบเทียบ Priority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39640" y="4313201"/>
            <a:ext cx="6329973" cy="94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เมื่อพบ Operator ระบบเปรียบเทียบ Priority กับ Operator บน Stack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หาก Operator บน Stack มี Priority มากกว่าหรือเท่ากัน ระบบจะ Pop ออกมาก่อน ทำให้ Operator ที่ต้องคำนวณก่อนถูกประมวลผลตามลำดับ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59015" y="8879757"/>
            <a:ext cx="5229720" cy="94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เมื่อพบ ( ระบบ Push ลง Stack เพื่อเป็นขอบเขตของนิพจน์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เมื่อพบ ) ระบบจะ Pop Operator จนถึง ( ทำให้การคำนวณภายในวงเล็บเสร็จก่อน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67525" y="6967052"/>
            <a:ext cx="5814916" cy="63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Postfix ไม่ต้องใช้วงเล็บในการกำหนดลำดับ เพราะตำแหน่งของ Operator ใน Postfix เป็นตัวกำหนดลำดับการคำนวณอยู่แล้ว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79157" y="697331"/>
            <a:ext cx="5101382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orrectness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72167" y="1683265"/>
            <a:ext cx="4067473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A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rgument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568" y="5726642"/>
            <a:ext cx="3543802" cy="60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Loop Inva</a:t>
            </a: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riant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69800" y="6124955"/>
            <a:ext cx="5965152" cy="60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Cor</a:t>
            </a: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rectness ของ Postfix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74111" y="3549546"/>
            <a:ext cx="3496210" cy="60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กรณี Ope</a:t>
            </a: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rator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92070" y="1199496"/>
            <a:ext cx="3365826" cy="60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กรณี Ope</a:t>
            </a: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rand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417568"/>
            <a:ext cx="3158397" cy="60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Precondit</a:t>
            </a: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37130" y="8201274"/>
            <a:ext cx="2764102" cy="60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กรณีวงเล็บ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หน้า 9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543392" y="1095963"/>
            <a:ext cx="2277664" cy="6357836"/>
            <a:chOff x="0" y="0"/>
            <a:chExt cx="599879" cy="167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9879" cy="1674492"/>
            </a:xfrm>
            <a:custGeom>
              <a:avLst/>
              <a:gdLst/>
              <a:ahLst/>
              <a:cxnLst/>
              <a:rect r="r" b="b" t="t" l="l"/>
              <a:pathLst>
                <a:path h="1674492" w="599879">
                  <a:moveTo>
                    <a:pt x="173352" y="0"/>
                  </a:moveTo>
                  <a:lnTo>
                    <a:pt x="426526" y="0"/>
                  </a:lnTo>
                  <a:cubicBezTo>
                    <a:pt x="472502" y="0"/>
                    <a:pt x="516595" y="18264"/>
                    <a:pt x="549105" y="50774"/>
                  </a:cubicBezTo>
                  <a:cubicBezTo>
                    <a:pt x="581615" y="83284"/>
                    <a:pt x="599879" y="127376"/>
                    <a:pt x="599879" y="173352"/>
                  </a:cubicBezTo>
                  <a:lnTo>
                    <a:pt x="599879" y="1501140"/>
                  </a:lnTo>
                  <a:cubicBezTo>
                    <a:pt x="599879" y="1547115"/>
                    <a:pt x="581615" y="1591208"/>
                    <a:pt x="549105" y="1623718"/>
                  </a:cubicBezTo>
                  <a:cubicBezTo>
                    <a:pt x="516595" y="1656228"/>
                    <a:pt x="472502" y="1674492"/>
                    <a:pt x="426526" y="1674492"/>
                  </a:cubicBezTo>
                  <a:lnTo>
                    <a:pt x="173352" y="1674492"/>
                  </a:lnTo>
                  <a:cubicBezTo>
                    <a:pt x="127376" y="1674492"/>
                    <a:pt x="83284" y="1656228"/>
                    <a:pt x="50774" y="1623718"/>
                  </a:cubicBezTo>
                  <a:cubicBezTo>
                    <a:pt x="18264" y="1591208"/>
                    <a:pt x="0" y="1547115"/>
                    <a:pt x="0" y="1501140"/>
                  </a:cubicBezTo>
                  <a:lnTo>
                    <a:pt x="0" y="173352"/>
                  </a:lnTo>
                  <a:cubicBezTo>
                    <a:pt x="0" y="127376"/>
                    <a:pt x="18264" y="83284"/>
                    <a:pt x="50774" y="50774"/>
                  </a:cubicBezTo>
                  <a:cubicBezTo>
                    <a:pt x="83284" y="18264"/>
                    <a:pt x="127376" y="0"/>
                    <a:pt x="1733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599879" cy="1741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66263" y="3492643"/>
            <a:ext cx="5924104" cy="151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8"/>
              </a:lnSpc>
              <a:spcBef>
                <a:spcPct val="0"/>
              </a:spcBef>
            </a:pPr>
            <a:r>
              <a:rPr lang="en-US" sz="215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เมื่อ Algorithm หยุด</a:t>
            </a:r>
          </a:p>
          <a:p>
            <a:pPr algn="just">
              <a:lnSpc>
                <a:spcPts val="3018"/>
              </a:lnSpc>
              <a:spcBef>
                <a:spcPct val="0"/>
              </a:spcBef>
            </a:pPr>
            <a:r>
              <a:rPr lang="en-US" sz="215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Operator ที่ต้องประมวลผลทั้งหมดถูกนำออกจาก Stack</a:t>
            </a:r>
          </a:p>
          <a:p>
            <a:pPr algn="just">
              <a:lnSpc>
                <a:spcPts val="3018"/>
              </a:lnSpc>
              <a:spcBef>
                <a:spcPct val="0"/>
              </a:spcBef>
            </a:pPr>
            <a:r>
              <a:rPr lang="en-US" sz="215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Operand Stack เหลือผลลัพธ์สุดท้ายเพียงหนึ่งค่า</a:t>
            </a:r>
          </a:p>
          <a:p>
            <a:pPr algn="just">
              <a:lnSpc>
                <a:spcPts val="3018"/>
              </a:lnSpc>
              <a:spcBef>
                <a:spcPct val="0"/>
              </a:spcBef>
            </a:pPr>
            <a:r>
              <a:rPr lang="en-US" sz="215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ผลลัพธ์ตรงกับค่าของนิพจน์ Infix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62612" y="6128986"/>
            <a:ext cx="5575697" cy="49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7"/>
              </a:lnSpc>
              <a:spcBef>
                <a:spcPct val="0"/>
              </a:spcBef>
            </a:pPr>
            <a:r>
              <a:rPr lang="en-US" b="true" sz="2876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ดังนั้น Algorithm ให้ผลลัพธ์ที่ถูกต้อง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25877" y="-85771"/>
            <a:ext cx="9730835" cy="10287000"/>
            <a:chOff x="0" y="0"/>
            <a:chExt cx="9730595" cy="102867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3" y="-127"/>
              <a:ext cx="9730502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9730502">
                  <a:moveTo>
                    <a:pt x="9730502" y="10251440"/>
                  </a:moveTo>
                  <a:cubicBezTo>
                    <a:pt x="9730502" y="10284587"/>
                    <a:pt x="9718436" y="10286873"/>
                    <a:pt x="9686979" y="10286873"/>
                  </a:cubicBezTo>
                  <a:cubicBezTo>
                    <a:pt x="6458386" y="10286238"/>
                    <a:pt x="3229937" y="10286238"/>
                    <a:pt x="1343" y="10286238"/>
                  </a:cubicBezTo>
                  <a:cubicBezTo>
                    <a:pt x="-2887" y="10272395"/>
                    <a:pt x="3929" y="10259822"/>
                    <a:pt x="7233" y="10246995"/>
                  </a:cubicBezTo>
                  <a:cubicBezTo>
                    <a:pt x="149149" y="9685401"/>
                    <a:pt x="291209" y="9123934"/>
                    <a:pt x="433556" y="8562467"/>
                  </a:cubicBezTo>
                  <a:cubicBezTo>
                    <a:pt x="636519" y="7761986"/>
                    <a:pt x="839913" y="6961632"/>
                    <a:pt x="1042732" y="6161151"/>
                  </a:cubicBezTo>
                  <a:cubicBezTo>
                    <a:pt x="1293240" y="5172583"/>
                    <a:pt x="1543174" y="4184015"/>
                    <a:pt x="1793538" y="3195574"/>
                  </a:cubicBezTo>
                  <a:cubicBezTo>
                    <a:pt x="2047924" y="2191385"/>
                    <a:pt x="2302454" y="1187323"/>
                    <a:pt x="2557558" y="183261"/>
                  </a:cubicBezTo>
                  <a:cubicBezTo>
                    <a:pt x="2573071" y="122174"/>
                    <a:pt x="2582983" y="59690"/>
                    <a:pt x="2608120" y="635"/>
                  </a:cubicBezTo>
                  <a:cubicBezTo>
                    <a:pt x="4967836" y="635"/>
                    <a:pt x="7327551" y="635"/>
                    <a:pt x="9687266" y="0"/>
                  </a:cubicBezTo>
                  <a:cubicBezTo>
                    <a:pt x="9719299" y="0"/>
                    <a:pt x="9730215" y="3429"/>
                    <a:pt x="9730215" y="35814"/>
                  </a:cubicBezTo>
                  <a:cubicBezTo>
                    <a:pt x="9729353" y="3441065"/>
                    <a:pt x="9729353" y="6846316"/>
                    <a:pt x="9730502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-29263" t="0" r="-2926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3445" y="1843243"/>
            <a:ext cx="3086100" cy="4957910"/>
            <a:chOff x="0" y="0"/>
            <a:chExt cx="812800" cy="13057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305787"/>
            </a:xfrm>
            <a:custGeom>
              <a:avLst/>
              <a:gdLst/>
              <a:ahLst/>
              <a:cxnLst/>
              <a:rect r="r" b="b" t="t" l="l"/>
              <a:pathLst>
                <a:path h="130578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177846"/>
                  </a:lnTo>
                  <a:cubicBezTo>
                    <a:pt x="812800" y="1211778"/>
                    <a:pt x="799321" y="1244321"/>
                    <a:pt x="775327" y="1268314"/>
                  </a:cubicBezTo>
                  <a:cubicBezTo>
                    <a:pt x="751333" y="1292308"/>
                    <a:pt x="718791" y="1305787"/>
                    <a:pt x="684859" y="1305787"/>
                  </a:cubicBezTo>
                  <a:lnTo>
                    <a:pt x="127941" y="1305787"/>
                  </a:lnTo>
                  <a:cubicBezTo>
                    <a:pt x="94009" y="1305787"/>
                    <a:pt x="61467" y="1292308"/>
                    <a:pt x="37473" y="1268314"/>
                  </a:cubicBezTo>
                  <a:cubicBezTo>
                    <a:pt x="13479" y="1244321"/>
                    <a:pt x="0" y="1211778"/>
                    <a:pt x="0" y="117784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12800" cy="1372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344822" y="5813763"/>
            <a:ext cx="817790" cy="884097"/>
          </a:xfrm>
          <a:custGeom>
            <a:avLst/>
            <a:gdLst/>
            <a:ahLst/>
            <a:cxnLst/>
            <a:rect r="r" b="b" t="t" l="l"/>
            <a:pathLst>
              <a:path h="884097" w="817790">
                <a:moveTo>
                  <a:pt x="0" y="0"/>
                </a:moveTo>
                <a:lnTo>
                  <a:pt x="817790" y="0"/>
                </a:lnTo>
                <a:lnTo>
                  <a:pt x="817790" y="884097"/>
                </a:lnTo>
                <a:lnTo>
                  <a:pt x="0" y="884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72363" y="1964454"/>
            <a:ext cx="2068264" cy="456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ตัวอย่าง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3 + 4 * 2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กลายเป็น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3 4 2 * +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เมื่อประเมินจะทำ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4 * 2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ก่อน แล้วจึง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3 + 8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จึงได้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11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70589" y="2529763"/>
            <a:ext cx="3416291" cy="60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Pos</a:t>
            </a: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tcondition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7274" y="754132"/>
            <a:ext cx="5532066" cy="60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Correctness Argumen</a:t>
            </a:r>
            <a:r>
              <a:rPr lang="en-US" b="true" sz="436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</a:t>
            </a:r>
          </a:p>
        </p:txBody>
      </p:sp>
      <p:sp>
        <p:nvSpPr>
          <p:cNvPr name="AutoShape 18" id="18"/>
          <p:cNvSpPr/>
          <p:nvPr/>
        </p:nvSpPr>
        <p:spPr>
          <a:xfrm>
            <a:off x="4527385" y="6807660"/>
            <a:ext cx="6492240" cy="0"/>
          </a:xfrm>
          <a:prstGeom prst="line">
            <a:avLst/>
          </a:prstGeom>
          <a:ln cap="flat" w="38100">
            <a:solidFill>
              <a:srgbClr val="FFE5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51203" y="4218670"/>
            <a:ext cx="7894081" cy="1849659"/>
          </a:xfrm>
          <a:custGeom>
            <a:avLst/>
            <a:gdLst/>
            <a:ahLst/>
            <a:cxnLst/>
            <a:rect r="r" b="b" t="t" l="l"/>
            <a:pathLst>
              <a:path h="1849659" w="7894081">
                <a:moveTo>
                  <a:pt x="0" y="0"/>
                </a:moveTo>
                <a:lnTo>
                  <a:pt x="7894080" y="0"/>
                </a:lnTo>
                <a:lnTo>
                  <a:pt x="7894080" y="1849660"/>
                </a:lnTo>
                <a:lnTo>
                  <a:pt x="0" y="1849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91040" y="6172200"/>
            <a:ext cx="3321630" cy="4114800"/>
          </a:xfrm>
          <a:custGeom>
            <a:avLst/>
            <a:gdLst/>
            <a:ahLst/>
            <a:cxnLst/>
            <a:rect r="r" b="b" t="t" l="l"/>
            <a:pathLst>
              <a:path h="4114800" w="3321630">
                <a:moveTo>
                  <a:pt x="0" y="0"/>
                </a:moveTo>
                <a:lnTo>
                  <a:pt x="3321631" y="0"/>
                </a:lnTo>
                <a:lnTo>
                  <a:pt x="33216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หน้า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7564" y="2337232"/>
            <a:ext cx="5516498" cy="45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ให้ n คือจำนวน Token ของนิพจน์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5422" y="2984220"/>
            <a:ext cx="4136102" cy="228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Algorithm A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Tokenize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O(n)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Infix → Postfix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O(n)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8870" y="5804850"/>
            <a:ext cx="7491717" cy="91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แม้จะมี while อยู่ภายใน Loop แต่ Operator แต่ละตัวถูก Push และ Pop จำนวนจำกัด จึงรวมแล้วเป็นเชิงเส้น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3872" y="7253880"/>
            <a:ext cx="5683881" cy="183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Evaluate Postfix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O(n)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ดังนั้น Algorithm A โดยรวม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O(n)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2533110"/>
            <a:ext cx="7165012" cy="137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Algorithm B</a:t>
            </a:r>
          </a:p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Algorithm B อ่าน Token และทำ Push/Pop Stackแบบจำกัดดังนั้น O(n)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9090" y="765824"/>
            <a:ext cx="7348075" cy="103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0"/>
              </a:lnSpc>
            </a:pPr>
            <a:r>
              <a:rPr lang="en-US" b="true" sz="5950" spc="110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Big-O Analysis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หน้า 11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6230" y="847725"/>
            <a:ext cx="6526223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Big-O Analy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843" y="2056170"/>
            <a:ext cx="4136102" cy="823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7"/>
              </a:lnSpc>
            </a:pPr>
            <a:r>
              <a:rPr lang="en-US" sz="257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Space Complexity</a:t>
            </a:r>
          </a:p>
          <a:p>
            <a:pPr algn="ctr">
              <a:lnSpc>
                <a:spcPts val="3607"/>
              </a:lnSpc>
            </a:pPr>
          </a:p>
          <a:p>
            <a:pPr algn="ctr">
              <a:lnSpc>
                <a:spcPts val="3607"/>
              </a:lnSpc>
            </a:pPr>
          </a:p>
          <a:p>
            <a:pPr algn="ctr">
              <a:lnSpc>
                <a:spcPts val="3607"/>
              </a:lnSpc>
              <a:spcBef>
                <a:spcPct val="0"/>
              </a:spcBef>
            </a:pP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Operator Stack = O(n)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Postfix Output = O(n)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Operand Stack = O(n)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ดังนั้น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Auxiliary Space = O(n)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</a:p>
          <a:p>
            <a:pPr algn="ctr">
              <a:lnSpc>
                <a:spcPts val="3607"/>
              </a:lnSpc>
              <a:spcBef>
                <a:spcPct val="0"/>
              </a:spcBef>
            </a:pPr>
          </a:p>
          <a:p>
            <a:pPr algn="ctr">
              <a:lnSpc>
                <a:spcPts val="3607"/>
              </a:lnSpc>
              <a:spcBef>
                <a:spcPct val="0"/>
              </a:spcBef>
            </a:pPr>
          </a:p>
          <a:p>
            <a:pPr algn="ctr">
              <a:lnSpc>
                <a:spcPts val="3607"/>
              </a:lnSpc>
              <a:spcBef>
                <a:spcPct val="0"/>
              </a:spcBef>
            </a:pP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Operator Stack = O(n)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Operand Stack = O(n)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ดังนั้น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Auxiliary Space = O(n)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42223" y="7181094"/>
            <a:ext cx="10794411" cy="118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  <a:spcBef>
                <a:spcPct val="0"/>
              </a:spcBef>
            </a:pPr>
            <a:r>
              <a:rPr lang="en-US" b="true" sz="4458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Algori</a:t>
            </a:r>
            <a:r>
              <a:rPr lang="en-US" b="true" sz="4458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thm B</a:t>
            </a:r>
          </a:p>
          <a:p>
            <a:pPr algn="l">
              <a:lnSpc>
                <a:spcPts val="463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42223" y="3084073"/>
            <a:ext cx="10794411" cy="118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  <a:spcBef>
                <a:spcPct val="0"/>
              </a:spcBef>
            </a:pPr>
            <a:r>
              <a:rPr lang="en-US" b="true" sz="4458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Algori</a:t>
            </a:r>
            <a:r>
              <a:rPr lang="en-US" b="true" sz="4458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thm A</a:t>
            </a:r>
          </a:p>
          <a:p>
            <a:pPr algn="l">
              <a:lnSpc>
                <a:spcPts val="463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011111" y="3577046"/>
            <a:ext cx="9248189" cy="320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  <a:spcBef>
                <a:spcPct val="0"/>
              </a:spcBef>
            </a:pPr>
          </a:p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b="true" sz="25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ทั้งสอง Algorithm ต้องอ่าน Input เพื่อประมวลผล ดังนั้น</a:t>
            </a:r>
          </a:p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b="true" sz="25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Ω(n)</a:t>
            </a:r>
          </a:p>
          <a:p>
            <a:pPr algn="l">
              <a:lnSpc>
                <a:spcPts val="3607"/>
              </a:lnSpc>
              <a:spcBef>
                <a:spcPct val="0"/>
              </a:spcBef>
            </a:pPr>
          </a:p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b="true" sz="25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และภายใต้โมเดลการคำนวณของโจทย์</a:t>
            </a:r>
          </a:p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b="true" sz="25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Θ(n)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011111" y="3084073"/>
            <a:ext cx="10794411" cy="60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  <a:spcBef>
                <a:spcPct val="0"/>
              </a:spcBef>
            </a:pPr>
            <a:r>
              <a:rPr lang="en-US" b="true" sz="4458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Big-Ome</a:t>
            </a:r>
            <a:r>
              <a:rPr lang="en-US" b="true" sz="4458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ga และ Big-T</a:t>
            </a:r>
            <a:r>
              <a:rPr lang="en-US" b="true" sz="4458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heta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36889" y="1578490"/>
            <a:ext cx="11414221" cy="8430611"/>
          </a:xfrm>
          <a:custGeom>
            <a:avLst/>
            <a:gdLst/>
            <a:ahLst/>
            <a:cxnLst/>
            <a:rect r="r" b="b" t="t" l="l"/>
            <a:pathLst>
              <a:path h="8430611" w="11414221">
                <a:moveTo>
                  <a:pt x="0" y="0"/>
                </a:moveTo>
                <a:lnTo>
                  <a:pt x="11414222" y="0"/>
                </a:lnTo>
                <a:lnTo>
                  <a:pt x="11414222" y="8430612"/>
                </a:lnTo>
                <a:lnTo>
                  <a:pt x="0" y="8430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28867" y="583685"/>
            <a:ext cx="5230267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lass Dia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7941" y="1625585"/>
            <a:ext cx="6631116" cy="5704186"/>
          </a:xfrm>
          <a:custGeom>
            <a:avLst/>
            <a:gdLst/>
            <a:ahLst/>
            <a:cxnLst/>
            <a:rect r="r" b="b" t="t" l="l"/>
            <a:pathLst>
              <a:path h="5704186" w="6631116">
                <a:moveTo>
                  <a:pt x="0" y="0"/>
                </a:moveTo>
                <a:lnTo>
                  <a:pt x="6631116" y="0"/>
                </a:lnTo>
                <a:lnTo>
                  <a:pt x="663111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63602" y="1625585"/>
            <a:ext cx="5187917" cy="3150994"/>
          </a:xfrm>
          <a:custGeom>
            <a:avLst/>
            <a:gdLst/>
            <a:ahLst/>
            <a:cxnLst/>
            <a:rect r="r" b="b" t="t" l="l"/>
            <a:pathLst>
              <a:path h="3150994" w="5187917">
                <a:moveTo>
                  <a:pt x="0" y="0"/>
                </a:moveTo>
                <a:lnTo>
                  <a:pt x="5187917" y="0"/>
                </a:lnTo>
                <a:lnTo>
                  <a:pt x="5187917" y="3150995"/>
                </a:lnTo>
                <a:lnTo>
                  <a:pt x="0" y="3150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หน้า 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849393" y="426390"/>
            <a:ext cx="12214161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Java Imp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lementation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5456" y="2043778"/>
            <a:ext cx="4705634" cy="7486235"/>
          </a:xfrm>
          <a:custGeom>
            <a:avLst/>
            <a:gdLst/>
            <a:ahLst/>
            <a:cxnLst/>
            <a:rect r="r" b="b" t="t" l="l"/>
            <a:pathLst>
              <a:path h="7486235" w="4705634">
                <a:moveTo>
                  <a:pt x="0" y="0"/>
                </a:moveTo>
                <a:lnTo>
                  <a:pt x="4705633" y="0"/>
                </a:lnTo>
                <a:lnTo>
                  <a:pt x="4705633" y="7486235"/>
                </a:lnTo>
                <a:lnTo>
                  <a:pt x="0" y="7486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60877" y="2128714"/>
            <a:ext cx="5390872" cy="7247397"/>
          </a:xfrm>
          <a:custGeom>
            <a:avLst/>
            <a:gdLst/>
            <a:ahLst/>
            <a:cxnLst/>
            <a:rect r="r" b="b" t="t" l="l"/>
            <a:pathLst>
              <a:path h="7247397" w="5390872">
                <a:moveTo>
                  <a:pt x="0" y="0"/>
                </a:moveTo>
                <a:lnTo>
                  <a:pt x="5390872" y="0"/>
                </a:lnTo>
                <a:lnTo>
                  <a:pt x="5390872" y="7247397"/>
                </a:lnTo>
                <a:lnTo>
                  <a:pt x="0" y="7247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หน้า 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487614" y="725250"/>
            <a:ext cx="12214161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Java Imp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lementation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3104" y="2489443"/>
            <a:ext cx="8792193" cy="7207334"/>
          </a:xfrm>
          <a:custGeom>
            <a:avLst/>
            <a:gdLst/>
            <a:ahLst/>
            <a:cxnLst/>
            <a:rect r="r" b="b" t="t" l="l"/>
            <a:pathLst>
              <a:path h="7207334" w="8792193">
                <a:moveTo>
                  <a:pt x="0" y="0"/>
                </a:moveTo>
                <a:lnTo>
                  <a:pt x="8792193" y="0"/>
                </a:lnTo>
                <a:lnTo>
                  <a:pt x="8792193" y="7207334"/>
                </a:lnTo>
                <a:lnTo>
                  <a:pt x="0" y="7207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หน้า 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429031" y="1133475"/>
            <a:ext cx="12214161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est case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6266" y="3250193"/>
            <a:ext cx="15217679" cy="3786614"/>
          </a:xfrm>
          <a:custGeom>
            <a:avLst/>
            <a:gdLst/>
            <a:ahLst/>
            <a:cxnLst/>
            <a:rect r="r" b="b" t="t" l="l"/>
            <a:pathLst>
              <a:path h="3786614" w="15217679">
                <a:moveTo>
                  <a:pt x="0" y="0"/>
                </a:moveTo>
                <a:lnTo>
                  <a:pt x="15217679" y="0"/>
                </a:lnTo>
                <a:lnTo>
                  <a:pt x="15217679" y="3786614"/>
                </a:lnTo>
                <a:lnTo>
                  <a:pt x="0" y="3786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หน้า 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93237" y="2255387"/>
            <a:ext cx="12214161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Experimental R</a:t>
            </a: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esults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หน้า 17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51211"/>
            <a:ext cx="13083567" cy="456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จากการออกแบบและเปรียบเทียบ Algorithm ทั้งสอง วิธีสามารถประมวลผลนิพจน์ตามโจทย์ได้อย่างถูกต้อง และทั้งสองวิธีมี Time Complexity เป็น O(n) และ Auxiliary Space เป็น O(n)</a:t>
            </a:r>
          </a:p>
          <a:p>
            <a:pPr algn="l">
              <a:lnSpc>
                <a:spcPts val="3607"/>
              </a:lnSpc>
              <a:spcBef>
                <a:spcPct val="0"/>
              </a:spcBef>
            </a:pPr>
          </a:p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Algorithm A: Infix → Postfix → Evaluate</a:t>
            </a:r>
          </a:p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มีข้อดีคือโครงสร้างชัดเจน เข้าใจง่าย และสามารถตรวจสอบลำดับการคำนวณผ่าน Postfix ได้ง่าย จึงเหมาะสำหรับการอธิบายและตรวจสอบความถูกต้องของระบบ</a:t>
            </a:r>
          </a:p>
          <a:p>
            <a:pPr algn="l">
              <a:lnSpc>
                <a:spcPts val="3607"/>
              </a:lnSpc>
              <a:spcBef>
                <a:spcPct val="0"/>
              </a:spcBef>
            </a:pPr>
          </a:p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Algorithm B: Direct Infix Evaluation</a:t>
            </a:r>
          </a:p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มีข้อดีคือสามารถประเมินนิพจน์ได้โดยตรงและไม่ต้องสร้าง Postfix แยก แต่ Logic ในการจัดการ Priority และ Stack มีความซับซ้อนมากกว่า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896581" y="1133475"/>
            <a:ext cx="12214161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สรุปและวิธีที่กลุ่มเลือก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หน้า 18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49092"/>
            <a:ext cx="9389105" cy="364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กลุ่มเลือก Algorithm A: Infix → Postfix → Evaluate เป็นวิธีหลักในการนำเสนอ เนื่องจากมีขั้นตอนที่ชัดเจน เข้าใจง่าย และแสดงลำดับการคำนวณได้อย่างชัดเจนผ่าน Postfix อีกทั้งยังเหมาะสำหรับการอธิบายเรื่อง Stack, Operator Priority และ Correctness ของอัลกอริทึม</a:t>
            </a:r>
          </a:p>
          <a:p>
            <a:pPr algn="l">
              <a:lnSpc>
                <a:spcPts val="3607"/>
              </a:lnSpc>
              <a:spcBef>
                <a:spcPct val="0"/>
              </a:spcBef>
            </a:pPr>
          </a:p>
          <a:p>
            <a:pPr algn="l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อย่างไรก็ตาม กลุ่มยังพัฒนา Algorithm B เพื่อใช้เป็นวิธีเปรียบเทียบด้านประสิทธิภาพ ตามข้อกำหนดที่ต้องออกแบบอัลกอริทึมสำหรับปัญหาเดียวกันมากกว่า 1 วิธี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91930" y="971550"/>
            <a:ext cx="4752380" cy="776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โดยสรุป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Algorithm A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Infix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 ↓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Postfix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 ↓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Evaluate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 ↓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Result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เป็นวิธีที่กลุ่มเลือกใช้เป็นวิธีหลัก ส่วน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Algorithm B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Infix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 ↓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Evaluate Directly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 ↓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Result</a:t>
            </a:r>
          </a:p>
          <a:p>
            <a:pPr algn="ctr">
              <a:lnSpc>
                <a:spcPts val="3607"/>
              </a:lnSpc>
              <a:spcBef>
                <a:spcPct val="0"/>
              </a:spcBef>
            </a:pPr>
            <a:r>
              <a:rPr lang="en-US" sz="25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ใช้สำหรับเปรียบเทียบกับ Algorithm 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485261" y="1133475"/>
            <a:ext cx="12214161" cy="9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7"/>
              </a:lnSpc>
              <a:spcBef>
                <a:spcPct val="0"/>
              </a:spcBef>
            </a:pPr>
            <a:r>
              <a:rPr lang="en-US" b="true" sz="723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วิธีที่กลุ่มเลือก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19545" y="3714791"/>
            <a:ext cx="10848910" cy="257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4"/>
              </a:lnSpc>
            </a:pPr>
            <a:r>
              <a:rPr lang="en-US" b="true" sz="15003">
                <a:solidFill>
                  <a:srgbClr val="FEFEFE"/>
                </a:solidFill>
                <a:latin typeface="Pridi Bold"/>
                <a:ea typeface="Pridi Bold"/>
                <a:cs typeface="Pridi Bold"/>
                <a:sym typeface="Pridi Bold"/>
              </a:rPr>
              <a:t>จบการนำเสนอ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DAHSp1h-X80</dc:identifier>
  <dcterms:modified xsi:type="dcterms:W3CDTF">2011-08-01T06:04:30Z</dcterms:modified>
  <cp:revision>1</cp:revision>
  <dc:title>Expression Processor: Infix และ Postfix</dc:title>
</cp:coreProperties>
</file>